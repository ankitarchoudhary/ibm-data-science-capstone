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SVM</c:v>
                  </c:pt>
                  <c:pt idx="2">
                    <c:v>Decision 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88.9</c:v>
                </c:pt>
                <c:pt idx="3">
                  <c:v>94.4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kitarchoudhary/IBM-Data-Science-Capstone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kitarchoudhary/IBM-Data-Science-Capst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kitarchoudhary/IBM-Data-Science-Capst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kitarchoudhary/IBM-Data-Science-Capst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kitarchoudhary/IBM-Data-Science-Capst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kitarchoudhary/IBM-Data-Science-Capstone" TargetMode="External"/><Relationship Id="rId4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kitarchoudhary/IBM-Data-Science-Capst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rchoudhary/IBM-Data-Science-Capstone" TargetMode="Externa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First-Stage Landing Prediction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Choudhary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09.07.2026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029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Analyzed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1371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38912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Success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1371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95528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SpaceX REST API + Wikipedia web scraping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wrangling: derived binary landing outcome label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Matplotlib/Seaborn visualization + SQL queries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analytics: Folium map + Plotly Dash dashboard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modeling: 4 classification algorithms, tuned with GridSearchCV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2880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LC-39A: highest site success rate (77.3%)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orbit: most common, but lowest success rate (51.9%)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rose from 0% (2013) to ~90% (2019)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model: best predictor at 94.4% test accuracy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negatives in the best model's test predictions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0" y="128016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60320" y="1645920"/>
            <a:ext cx="8961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a fraction of the cost charged by other providers, largely because it reuses the first stage instead of discarding it after every flight. If the outcome of a landing attempt can be predicted from launch conditions, that prediction can be used to estimate launch cost. This project collects, explores, and models real Falcon 9 launch data to make that prediction.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560320" y="324612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60320" y="3611880"/>
            <a:ext cx="8961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payload mass, launch site, and orbit affect first-stage landing success?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landing success rate improved over time?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algorithm predicts landing outcome most accurately?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- SpaceX API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11430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launch data retrieved directly from the SpaceX REST API.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to the /launches endpoint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response into a DataFrame with pd.json_normalize()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rocket, launchpad, payload, and core IDs via follow-up API calls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single-core Falcon 9 launches only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PayloadMass values with the column mean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66344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0F9F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dataset_part_1.csv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- Web Scraping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11430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launch data scraped from the Wikipedia list of Falcon 9 and Falcon Heavy launches.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BF0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fixed, archived Wikipedia revision (for reproducibility) with BeautifulSoup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BF0F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launch records table among all tables on the page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BF0F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clean column names from table headers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BF0F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table rows, parsing date, booster, site, payload, orbit, customer, and outcome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11480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BF0F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regex to reliably split combined date-time text into separate Date and Time fields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66344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BF0F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dataset_part_2.csv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Methodology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10515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Outcome column (e.g. "True ASDS", "False Ocean") combines landing success and landing type as text. This was converted into a clean binary target label for modeling.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0  (Unsuccessful)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ASDS / False RTLS / False Ocean - landing attempted but failed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None - no core landing data available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ASDS - drone-ship landing planned, outcome unrecorded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96596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1  (Successful)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26060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ASDS - successful drone-ship landing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RTLS - successful return-to-launch-site landing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Ocean - successful controlled ocean landing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 - Overview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10972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and Seaborn were used to visualize relationships between launch conditions and landing outcome, in order to identify which features are most predictive before modeling.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Flight Number vs. Launch Site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120640" y="21031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success became more common over time, and whether that differs by site.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464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788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Mass vs. Launch Site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120640" y="27889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payload mass and outcome interact at each site.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0440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474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Success Rate by Orbit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5120640" y="34747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landing reliability across the 11 orbit types in the data.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062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4160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Yearly Success Trend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120640" y="41605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SpaceX's landing success rate evolved from 2010 to 2020.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Flight Number vs. Launch Site</a:t>
            </a:r>
            <a:endParaRPr lang="en-US" sz="2500" dirty="0"/>
          </a:p>
        </p:txBody>
      </p:sp>
      <p:pic>
        <p:nvPicPr>
          <p:cNvPr id="3" name="Image 0" descr="eda_flight_vs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914400"/>
            <a:ext cx="5943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Early flight numbers (roughly 1-20) show mostly unsuccessful landings across all three sites, while later flight numbers are dominated by successful outcomes.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that landing success is strongly correlated with time (flight number), consistent with SpaceX's improving landing technology.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 accounts for the largest share of launches across the full flight-number range, while KSC LC-39A only begins appearing from the mid-20s onward.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Payload Mass vs. Launch Site</a:t>
            </a:r>
            <a:endParaRPr lang="en-US" sz="2500" dirty="0"/>
          </a:p>
        </p:txBody>
      </p:sp>
      <p:pic>
        <p:nvPicPr>
          <p:cNvPr id="3" name="Image 0" descr="eda_payload_vs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914400"/>
            <a:ext cx="5943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VAFB SLC-4E and CCAFS SLC-40 both handle a wide range of payload masses, from under 1000 kg up to 15,000+ kg, with successes and failures spread across that range.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tends to handle heavier payloads on average and shows a higher concentration of successful (green) outcomes.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payload threshold that guarantees success at any site - outcome depends on a combination of factors, not payload mass alone.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Success Rate by Orbit Type</a:t>
            </a:r>
            <a:endParaRPr lang="en-US" sz="2500" dirty="0"/>
          </a:p>
        </p:txBody>
      </p:sp>
      <p:pic>
        <p:nvPicPr>
          <p:cNvPr id="3" name="Image 0" descr="eda_orbit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914400"/>
            <a:ext cx="5943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ES-L1, GEO, HEO, and SSO orbits all reach a 100% success rate, though each of these has only 1-5 launches in the dataset, so the sample size is small.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is the most common orbit by far (27 launches) but has the lowest success rate at 51.9%, making it the orbit type most in need of landing-technique improvement.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(a single launch) is the only orbit with a 0% success rate.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Launch Success Rate by Year</a:t>
            </a:r>
            <a:endParaRPr lang="en-US" sz="2500" dirty="0"/>
          </a:p>
        </p:txBody>
      </p:sp>
      <p:pic>
        <p:nvPicPr>
          <p:cNvPr id="3" name="Image 0" descr="eda_year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914400"/>
            <a:ext cx="5943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Success rate was 0% from 2010 to 2013, during SpaceX's earliest recovery experiments, before any successful landing had been achieved.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climb begins in 2014-2016, followed by a jump to 83.3% in 2017 and a peak of 90% in 2019.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 in 2018 (61.1%) shows that progress was not perfectly linear year over year, but the overall decade-long trend is clearly upward.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- Overview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10972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were run against the wrangled dataset using SQLite, answering specific questions about launch sites, payload mass, success rates, and outcome rankings over time.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0552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launch sites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0120" y="27249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where site begins with 'CCA'</a:t>
            </a:r>
            <a:endParaRPr lang="en-US" sz="1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7413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33467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&amp; average payload mass</a:t>
            </a:r>
            <a:endParaRPr lang="en-US" sz="11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9592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0120" y="39684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landings with payload between 4000-6000 kg</a:t>
            </a:r>
            <a:endParaRPr lang="en-US" sz="11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617720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60120" y="4590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successful vs. unsuccessful counts</a:t>
            </a:r>
            <a:endParaRPr lang="en-US" sz="11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130552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53796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Booster(s) with maximum payload mass</a:t>
            </a:r>
            <a:endParaRPr lang="en-US" sz="11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752344"/>
            <a:ext cx="201168" cy="20116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537960" y="27249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Unsuccessful landings in 2020</a:t>
            </a:r>
            <a:endParaRPr lang="en-US" sz="11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374136"/>
            <a:ext cx="201168" cy="20116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6537960" y="33467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ranking between two dates</a:t>
            </a:r>
            <a:endParaRPr lang="en-US" sz="11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3995928"/>
            <a:ext cx="201168" cy="20116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537960" y="39684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launch site</a:t>
            </a:r>
            <a:endParaRPr lang="en-US" sz="11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4617720"/>
            <a:ext cx="201168" cy="201168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6537960" y="4590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payload by orbit</a:t>
            </a:r>
            <a:endParaRPr lang="en-US" sz="1150" dirty="0"/>
          </a:p>
        </p:txBody>
      </p:sp>
      <p:sp>
        <p:nvSpPr>
          <p:cNvPr id="25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Result: Launch Sites &amp; Payload Mass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launch_site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CCAFS SLC 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VAFB SLC 4E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KSC LC 39A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51560"/>
          <a:ext cx="6583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total_payload_mass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avg_payload_mass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549,446.3 kg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6,105.0 kg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LaunchSite FROM spacex;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754880" y="1828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SUM(PayloadMass), AVG(PayloadMass) FROM spacex;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Launch Site</a:t>
            </a:r>
            <a:endParaRPr lang="en-US" sz="15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10607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46888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LaunchSite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Successes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Success 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KSC LC 39A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77.3%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VAFB SLC 4E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CCAFS SLC 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Result: Outcome Ranking (2015-2018)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True ASDS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True RTLS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None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False ASDS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True Ocean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None ASDS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0" y="13716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Outcome, COUNT(*) FROM spacex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Date BETWEEN '2015-01-01' AND '2018-01-01'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Outcome ORDER BY COUNT(*) DESC;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ASDS (drone-ship landing) was the most common recorded outcome in this period, at 12 launches.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RTLS (return to launch site) follows with 8 successful landings.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'None None' (no attempt / no core data) appears 4 times, alongside 4 failed drone-ship attempts.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Result: Time Analysis - Unsuccessful Landings in 2020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607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1089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Serial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LaunchSite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2020-01-19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B1046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KSC LC 39A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None 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2020-02-17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B1056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CCAFS SLC 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False ASDS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2020-03-18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B1048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KSC LC 39A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False ASDS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2468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Date, Serial, LaunchSite, Outcome FROM spacex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Class = 0 AND Date LIKE '2020%';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by 2020, a small number of landing attempts still failed or had no recorded attempt, showing that landing was reliable but not perfect even late in the dataset's timeframe.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- Overview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0120" y="29260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markers plotted with real coordinates, color-coded by landing outcome, with a calculated proximity distance from KSC LC-39A to the nearest coastline.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18872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6304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29400" y="29260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dropdown to select a launch site, a pie chart of landing outcomes, a payload-mass range slider, and a scatter chart of payload vs. outcome.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47091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URLs (project + notebooks):</a:t>
            </a:r>
            <a:endParaRPr lang="en-US" sz="1200" dirty="0"/>
          </a:p>
        </p:txBody>
      </p:sp>
      <p:sp>
        <p:nvSpPr>
          <p:cNvPr id="12" name="Text 8">
            <a:hlinkClick r:id="rId3" tooltip=""/>
          </p:cNvPr>
          <p:cNvSpPr/>
          <p:nvPr/>
        </p:nvSpPr>
        <p:spPr>
          <a:xfrm>
            <a:off x="640080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300" dirty="0"/>
          </a:p>
        </p:txBody>
      </p:sp>
      <p:sp>
        <p:nvSpPr>
          <p:cNvPr id="13" name="Text 9">
            <a:hlinkClick r:id="rId4" tooltip=""/>
          </p:cNvPr>
          <p:cNvSpPr/>
          <p:nvPr/>
        </p:nvSpPr>
        <p:spPr>
          <a:xfrm>
            <a:off x="640080" y="5394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github.com/ankitarchoudhary/IBM-Data-Science-Capstone/blob/main/Phase5_Interactive_Visual_Analytics.ipynb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Folium Map - Launch Site Markers</a:t>
            </a:r>
            <a:endParaRPr lang="en-US" sz="2500" dirty="0"/>
          </a:p>
        </p:txBody>
      </p:sp>
      <p:pic>
        <p:nvPicPr>
          <p:cNvPr id="3" name="Image 0" descr="map_launch_s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914400"/>
            <a:ext cx="649224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the map plots all 90 launches at their real latitude/longitude, color-coded green for a successful landing and orange for unsuccessful, at the three launch sites (marked with circles).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 and KSC LC-39A (Florida, east coast) and VAFB SLC-4E (California, west coast) are both positioned directly on the coastline.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Visually, KSC LC-39A shows a noticeably higher concentration of green (successful) markers relative to its total launches, matching its 77.3% success rate calculated earlier.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Proximity Analysis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554480"/>
            <a:ext cx="8778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KSC LC-39A to the nearest coastline point: 5.86 km, calculated using the Haversine formula (great-circle distance on Earth's surface).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launch sites are located close to the coast, so that any failed rocket falls over open water rather than a populated area.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launch sites are also close to the Equator, where the Earth's surface is already moving fastest, giving an extra speed boost to anything launched from there.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Dashboard - Success Pie Chart</a:t>
            </a:r>
            <a:endParaRPr lang="en-US" sz="2500" dirty="0"/>
          </a:p>
        </p:txBody>
      </p:sp>
      <p:pic>
        <p:nvPicPr>
          <p:cNvPr id="3" name="Image 0" descr="dash_pie_success_by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914400"/>
            <a:ext cx="502920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this chart mirrors the dashboard's default 'All Sites' pie chart view, showing the share of total successful landings contributed by each launch site.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 contributes the largest share of successful landings (33 of 60), simply because it has the most total launches, not because it has the best success rate.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live dashboard, selecting a specific site from the dropdown switches this chart to show that site's own success-vs-failure split instead.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Dashboard - Payload vs. Landing Outcome</a:t>
            </a:r>
            <a:endParaRPr lang="en-US" sz="2500" dirty="0"/>
          </a:p>
        </p:txBody>
      </p:sp>
      <p:pic>
        <p:nvPicPr>
          <p:cNvPr id="3" name="Image 0" descr="dash_scatter_payload_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914400"/>
            <a:ext cx="685800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this scatter chart mirrors the dashboard's payload-vs-outcome view, with points colored by launch site instead of booster version, since all launches in this dataset use Falcon 9.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Successes (y=1) and failures (y=0) are visible across most of the payload range, but VAFB SLC-4E (green) launches cluster more tightly around successful outcomes.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live dashboard, the range slider lets a user filter this chart down to a specific payload window interactively.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19456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- Multiple Models &amp; Evaluation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828800" y="914400"/>
          <a:ext cx="8503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were tuned with GridSearchCV (5-fold cross-validation, 72 training launches) and evaluated on 18 held-out test launches. Best parameters - KNN: n_neighbors=7, Manhattan distance, uniform weights.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- Best Model (KNN)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1920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Predicted: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Did Not Land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Predicted: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Landed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Actual: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Did Not Land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Actual: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Landed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58368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KNN is the Best Model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583680" y="150876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18 test launches classified correctly (94.4% accuracy) - the highest of all 4 models.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negatives: every actual successful landing was correctly identified.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false positive, a small, acceptable margin of error on a dataset this size.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likely outperformed the linear models (Logistic Regression, SVM-linear) because the relationship between features and landing success is not purely linear - it depends on specific combinations of orbit, site, and payload that KNN's neighbor-based approach captures naturally.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1463040"/>
            <a:ext cx="93268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predicts Falcon 9 first-stage landing success with 94.4% test accuracy and zero false negatives, making it a strong candidate for estimating launch cost ahead of time.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is both SpaceX's most reliable launch site (77.3% success) and, notably, was the first crewed NASA launch pad reused for commercial flight, a fact this data confirms is matched by strong technical performance.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type reveals an innovation trade-off: GTO missions (the heaviest, most commercially valuable payloads) are also the hardest to land, at 51.9% success, suggesting future cost reductions depend on improving GTO-specific landing profiles.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success-rate jump after 2016 lines up with SpaceX's public shift toward routine booster reuse, turning this dataset into a visible timeline of a real engineering learning curve.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SQL, visualization, and ML on the same dataset shows a consistent story from three independent angles: site, orbit, and time all point to the same conclusion, increasing confidence in the result.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github.com/ankitarchoudhary/IBM-Data-Science-Capstone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</dc:title>
  <dc:subject>PptxGenJS Presentation</dc:subject>
  <dc:creator>Ankita Choudhary</dc:creator>
  <cp:lastModifiedBy>Ankita Choudhary</cp:lastModifiedBy>
  <cp:revision>1</cp:revision>
  <dcterms:created xsi:type="dcterms:W3CDTF">2026-07-09T06:43:37Z</dcterms:created>
  <dcterms:modified xsi:type="dcterms:W3CDTF">2026-07-09T06:43:37Z</dcterms:modified>
</cp:coreProperties>
</file>